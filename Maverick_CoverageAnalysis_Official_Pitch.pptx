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DDAD36-DBE7-2EEB-A544-C511BF7784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40" y="2213282"/>
            <a:ext cx="1123188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sz="2400" dirty="0"/>
            </a:br>
            <a:r>
              <a:rPr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Intelligent Client Data Preparation</a:t>
            </a:r>
          </a:p>
          <a:p>
            <a:pPr algn="ctr">
              <a:defRPr sz="3200" b="1">
                <a:solidFill>
                  <a:srgbClr val="C7D2FE"/>
                </a:solidFill>
              </a:defRPr>
            </a:pPr>
            <a:r>
              <a:rPr sz="4000" dirty="0"/>
              <a:t>for Coverage Analysis</a:t>
            </a:r>
          </a:p>
          <a:p>
            <a:pPr algn="ctr"/>
            <a:br>
              <a:rPr sz="2400" dirty="0"/>
            </a:br>
            <a:r>
              <a:rPr sz="2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Solution Presentation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rPr sz="1600" dirty="0"/>
              <a:t>Team Name: </a:t>
            </a:r>
            <a:r>
              <a:rPr lang="en-IN" sz="1600" dirty="0"/>
              <a:t>Mavericks</a:t>
            </a:r>
            <a:r>
              <a:rPr sz="1600" dirty="0"/>
              <a:t>  |  Challenge: Coverage Analysis Data Prep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01 / STORY  |  Problem &amp; Solution Overview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Start with the problem, then make the value of your solution immediately clear.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75504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809744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rPr dirty="0"/>
              <a:t>01  PROBLEM STATEMENT</a:t>
            </a:r>
            <a:endParaRPr lang="en-IN" dirty="0"/>
          </a:p>
          <a:p>
            <a:pPr>
              <a:defRPr sz="1300" b="1">
                <a:solidFill>
                  <a:srgbClr val="4F46E5"/>
                </a:solidFill>
              </a:defRPr>
            </a:pPr>
            <a:endParaRPr dirty="0"/>
          </a:p>
          <a:p>
            <a:pPr>
              <a:defRPr sz="1100">
                <a:solidFill>
                  <a:srgbClr val="0F172A"/>
                </a:solidFill>
              </a:defRPr>
            </a:pPr>
            <a:r>
              <a:rPr sz="1600" dirty="0"/>
              <a:t>Client shipment files arrive in fragmented formats (CSV, multi-tab Excel) with inconsistent headers, mixed dates, and negative returns. Manual preparation takes hours or days per file, delaying Coverage Analysis and risking data distortion.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554480"/>
            <a:ext cx="5175504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55664" y="1691640"/>
            <a:ext cx="4809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rPr dirty="0"/>
              <a:t>02  TARGET AUDIENCE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endParaRPr lang="en-IN" dirty="0"/>
          </a:p>
          <a:p>
            <a:pPr>
              <a:defRPr sz="1100">
                <a:solidFill>
                  <a:srgbClr val="0F172A"/>
                </a:solidFill>
              </a:defRPr>
            </a:pPr>
            <a:r>
              <a:rPr sz="1600" dirty="0"/>
              <a:t>Customer Support, Data Operations, and Commercial Analytics teams across global NIQ markets who must ingest, harmonize, and validate client shipment feeds before commercial coverage modeling can begin.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75504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4809744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rPr dirty="0"/>
              <a:t>03  YOUR SOLUTION</a:t>
            </a:r>
            <a:endParaRPr lang="en-IN" dirty="0"/>
          </a:p>
          <a:p>
            <a:pPr>
              <a:defRPr sz="1300" b="1">
                <a:solidFill>
                  <a:srgbClr val="4F46E5"/>
                </a:solidFill>
              </a:defRPr>
            </a:pPr>
            <a:endParaRPr dirty="0"/>
          </a:p>
          <a:p>
            <a:pPr>
              <a:defRPr sz="1100">
                <a:solidFill>
                  <a:srgbClr val="0F172A"/>
                </a:solidFill>
              </a:defRPr>
            </a:pPr>
            <a:r>
              <a:rPr sz="1600" dirty="0"/>
              <a:t>An autonomous, 9-step data preparation pipeline that automates ingestion, profiling, cleaning, token-aware classification, and canonical NIQ transformation (Country, Region, Channel, Brand, SKU, Fact + Time Periods) in under 2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3840480"/>
            <a:ext cx="5175504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3977639"/>
            <a:ext cx="4809744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rPr dirty="0"/>
              <a:t>04  VALUE PROPOSITION &amp; IMPACT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rPr sz="1600" dirty="0"/>
              <a:t>Unique hybrid intelligence: high-speed deterministic rules + Azure AI Luna fallback, backed by mathematical checksum reconciliation guaranteeing zero numerical distortion.</a:t>
            </a:r>
            <a:br>
              <a:rPr dirty="0"/>
            </a:br>
            <a:r>
              <a:rPr sz="1600" dirty="0"/>
              <a:t>BEFORE: 4 to 8 hours of manual spreadsheet toil</a:t>
            </a:r>
            <a:br>
              <a:rPr sz="1600" dirty="0"/>
            </a:br>
            <a:r>
              <a:rPr sz="1600" dirty="0"/>
              <a:t>AFTER:   &lt; 2 minutes of automated, verified preparation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rPr dirty="0"/>
              <a:t>02 / SOLUTION  |  Detailed Solution Architecture</a:t>
            </a:r>
            <a:endParaRPr lang="en-IN" dirty="0"/>
          </a:p>
          <a:p>
            <a:pPr>
              <a:defRPr sz="1300" b="1">
                <a:solidFill>
                  <a:srgbClr val="4F46E5"/>
                </a:solidFill>
              </a:defRPr>
            </a:pPr>
            <a:endParaRPr dirty="0"/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rPr dirty="0"/>
              <a:t>Show what makes the approach innovative, practical and scalable.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2962656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rPr dirty="0"/>
              <a:t>A  INNOVATION &amp; ORIGINALITY</a:t>
            </a:r>
            <a:endParaRPr lang="en-IN" dirty="0"/>
          </a:p>
          <a:p>
            <a:pPr>
              <a:defRPr sz="1300" b="1">
                <a:solidFill>
                  <a:srgbClr val="4F46E5"/>
                </a:solidFill>
              </a:defRPr>
            </a:pPr>
            <a:endParaRPr dirty="0"/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sz="1600" dirty="0"/>
              <a:t>• Token-Aware Semantic Parsing: Prevents field collisions (e.g. accurately mapping SALES_ZONE to Region instead of Fact).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sz="1600" dirty="0"/>
              <a:t>• Pre/Post Mathematical Reconciliation: Verifies input vs output sums globally and across category slices (Channel x Brand) with tolerance &lt;= 0.01.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sz="1600" dirty="0"/>
              <a:t>• Non-Destructive State Controls: Keeps pristine raw upload in memory with one-click reset to undo column drops or rule tweaks.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5448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08576" y="1691640"/>
            <a:ext cx="2962656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rPr dirty="0"/>
              <a:t>B  SCALABILITY</a:t>
            </a:r>
            <a:endParaRPr lang="en-IN" dirty="0"/>
          </a:p>
          <a:p>
            <a:pPr>
              <a:defRPr sz="1300" b="1">
                <a:solidFill>
                  <a:srgbClr val="4F46E5"/>
                </a:solidFill>
              </a:defRPr>
            </a:pPr>
            <a:endParaRPr dirty="0"/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sz="1600" dirty="0"/>
              <a:t>• 50 MB Large-File Optimization: Instant sheet discovery (&lt;100ms) without parsing entire XML trees upfront.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sz="1600" dirty="0"/>
              <a:t>• Fast Header Sampling: Reads top-25 rows (</a:t>
            </a:r>
            <a:r>
              <a:rPr sz="1600" dirty="0" err="1"/>
              <a:t>nrows</a:t>
            </a:r>
            <a:r>
              <a:rPr sz="1600" dirty="0"/>
              <a:t>=25) to identify offset headers in &lt;0.1s.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sz="1600" dirty="0"/>
              <a:t>• Session-State Memory Caching: Prevents multi-minute re-parsing on UI widget clicks.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sz="1600" dirty="0"/>
              <a:t>• Universal Containerization: Docker &amp; docker-compose enabled for global cloud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1691640"/>
            <a:ext cx="296265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rPr dirty="0"/>
              <a:t>C  ROLE OF AI &amp; COST</a:t>
            </a:r>
            <a:endParaRPr lang="en-IN" dirty="0"/>
          </a:p>
          <a:p>
            <a:pPr>
              <a:defRPr sz="1300" b="1">
                <a:solidFill>
                  <a:srgbClr val="4F46E5"/>
                </a:solidFill>
              </a:defRPr>
            </a:pPr>
            <a:endParaRPr dirty="0"/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sz="1600" dirty="0"/>
              <a:t>• Where AI Adds Value: Azure AI Luna (hack-fest-gpt-5.6-luna) is selectively invoked only for ambiguous, low-confidence fields (&lt;85%).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sz="1600" dirty="0"/>
              <a:t>• Where AI is Avoided: 90%+ common dimensions and time periods are handled instantly for  by deterministic token matching.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sz="1600" dirty="0"/>
              <a:t>• Eliminates Hallucination: Mathematical metrics are never transformed by the LLM.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sz="1600" dirty="0"/>
              <a:t>• Fail-Safe Offline Mode: Uninterrupted execution if corporate VPN is disconnected.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03 / DEMO  |  How It Works: End-to-End Flow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Make the end-to-end flow visible: inputs, intelligence, actions, and outcome.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664208"/>
            <a:ext cx="22037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rPr dirty="0"/>
              <a:t>01  INPUT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dirty="0"/>
              <a:t>User / Dataset / API</a:t>
            </a:r>
            <a:endParaRPr lang="en-US" dirty="0"/>
          </a:p>
          <a:p>
            <a:br>
              <a:rPr lang="en-US" dirty="0"/>
            </a:br>
            <a:r>
              <a:rPr lang="en-US" sz="1600" dirty="0"/>
              <a:t>CSV or multi-tab Excel files (up to 50 MB) + global </a:t>
            </a:r>
            <a:r>
              <a:rPr lang="en-US" sz="1600" dirty="0" err="1"/>
              <a:t>standards.yaml</a:t>
            </a:r>
            <a:r>
              <a:rPr lang="en-US" sz="1600" dirty="0"/>
              <a:t> dictionaries for country/channel.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3483864" y="15544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93592" y="1664208"/>
            <a:ext cx="22037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rPr dirty="0"/>
              <a:t>02  INTELLIGENCE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dirty="0"/>
              <a:t>Agent / Model / Logic</a:t>
            </a:r>
          </a:p>
          <a:p>
            <a:br>
              <a:rPr dirty="0"/>
            </a:br>
            <a:r>
              <a:rPr sz="1600" dirty="0"/>
              <a:t>25-row heuristic header detector + token-aware semantic classifier + Azure AI Luna fallback for ambiguous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5544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45936" y="1664208"/>
            <a:ext cx="220370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rPr dirty="0"/>
              <a:t>03  ACTION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dirty="0"/>
              <a:t>Workflows &amp; Rules</a:t>
            </a:r>
          </a:p>
          <a:p>
            <a:br>
              <a:rPr dirty="0"/>
            </a:br>
            <a:r>
              <a:rPr sz="1400" dirty="0"/>
              <a:t>Non-destructive cleanup (negatives, dupes, dates) -&gt; NIQ dimension transformation -&gt; mathematical sum reconciliation.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988552" y="15544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98280" y="1664208"/>
            <a:ext cx="220370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rPr dirty="0"/>
              <a:t>04  OUTCOME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dirty="0"/>
              <a:t>Result &amp; Action</a:t>
            </a:r>
          </a:p>
          <a:p>
            <a:br>
              <a:rPr dirty="0"/>
            </a:br>
            <a:r>
              <a:rPr sz="1400" dirty="0"/>
              <a:t>Standardized NIQ flat file, multi-tab Excel, data quality report, token telemetry, and complete audit ZIP bundle.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75504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480974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KEY FEATURES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✔ Multi-Tab to Single-Tab Consolidation: Appends sheets with source lineage tracking.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✔ Temporal Column Preservation: Preserves weekly and monthly time periods as columns (WEEK_01_2026, JAN_2026) per Coverage Analysis standards.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✔ Human-in-the-Loop Review Grid: Editable output table with immutable cell-level audit 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3840480"/>
            <a:ext cx="5175504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3977639"/>
            <a:ext cx="480974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TECH STACK &amp; EVIDENCE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Frontend &amp; Orchestration: Streamlit 1.38 (Responsive 9-step wizard)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Data Processing Engine: Python 3.12, Pandas 2.2, OpenPyXL, RapidFuzz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AI Model: Azure AI Inference SDK (hack-fest-gpt-5.6-luna)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Automated Verification: 5 unit test suites in tests/test_features.py (ALL PASSED)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Deliverable Package: Submission_Output_Deliverables_Package.zip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04 / IMPACT  |  Impact &amp; Future Scope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Close with evidence, expansion potential and the people behind the solution.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75504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01  MEASURABLE IMPACT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✔ &gt; 90% Turnaround Time Reduction: Slashes file preparation from 4-8 hours down to &lt; 2 minutes.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✔ 0.00 Numerical Variance: Guaranteed zero sales/unit distortion via mathematical reconciliation.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✔ 100% Audit Compliance: Full cell mutation audit trail and token telemetry logged for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554480"/>
            <a:ext cx="5175504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55664" y="169164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02  MARKET POTENTIAL &amp; USE CASES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→ Coverage Analysis Expansion: Readily deployable across all global NIQ client support teams.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→ Adjacent Retail Feeds: Harmonizes distributor sell-out data, e-commerce portals, and cash-and-carry receipts.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→ Multi-Category Versatility: Scales across Beverages, Personal Care, FMCG, and Packaged Goods.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75504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rPr dirty="0"/>
              <a:t>03  NEXT STEPS (PHASE 2 ROADMAP)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dirty="0"/>
              <a:t>• Dynamic Unpivoting Engine: Automated transformation of tall/transactional shipment files.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dirty="0"/>
              <a:t>• Cloud Data Lake Connectors: Direct API sync into NIQ Snowflake and </a:t>
            </a:r>
            <a:r>
              <a:rPr dirty="0" err="1"/>
              <a:t>BigQuery</a:t>
            </a:r>
            <a:r>
              <a:rPr dirty="0"/>
              <a:t> </a:t>
            </a:r>
            <a:r>
              <a:rPr dirty="0" err="1"/>
              <a:t>lakehouses</a:t>
            </a:r>
            <a:r>
              <a:rPr dirty="0"/>
              <a:t>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dirty="0"/>
              <a:t>• Active Learning Alias Registry: Learns from analyst approvals to continuously improve matching.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3931920"/>
            <a:ext cx="5175504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4069080"/>
            <a:ext cx="480974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rPr dirty="0"/>
              <a:t>TEAM &amp; ROLES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dirty="0"/>
              <a:t>👤 [</a:t>
            </a:r>
            <a:r>
              <a:rPr lang="en-IN" dirty="0"/>
              <a:t>Devesh Gupta</a:t>
            </a:r>
            <a:r>
              <a:rPr dirty="0"/>
              <a:t>] • Lead Data Engineer • Multi-sheet ingestion, fast sampling &amp; reconciliation engine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dirty="0"/>
              <a:t>👤 [</a:t>
            </a:r>
            <a:r>
              <a:rPr lang="en-IN" dirty="0"/>
              <a:t>Aman Priyadarshi</a:t>
            </a:r>
            <a:r>
              <a:rPr dirty="0"/>
              <a:t>] • AI &amp; Security Engineer • Token-aware classification &amp; Azure AI Luna integration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dirty="0"/>
              <a:t>👤 [</a:t>
            </a:r>
            <a:r>
              <a:rPr lang="en-IN" dirty="0"/>
              <a:t>Abhishek Kumar</a:t>
            </a:r>
            <a:r>
              <a:rPr dirty="0"/>
              <a:t>] • Full-Stack Developer • </a:t>
            </a:r>
            <a:r>
              <a:rPr dirty="0" err="1"/>
              <a:t>Streamlit</a:t>
            </a:r>
            <a:r>
              <a:rPr dirty="0"/>
              <a:t> UI wizard, audit tracking &amp; export packaging</a:t>
            </a:r>
          </a:p>
          <a:p>
            <a:br>
              <a:rPr dirty="0"/>
            </a:br>
            <a:r>
              <a:rPr dirty="0"/>
              <a:t>READY TO PITCH  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947B3B-1CC3-254E-04B9-5FE8602BB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3" y="0"/>
            <a:ext cx="1213849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0"/>
            <a:ext cx="9448495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en-US" dirty="0"/>
              <a:t>Thank You</a:t>
            </a:r>
          </a:p>
          <a:p>
            <a:pPr algn="ctr"/>
            <a:br>
              <a:rPr lang="en-US" dirty="0"/>
            </a:br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Intelligent Client Data Preparation for Coverage Analysis</a:t>
            </a:r>
          </a:p>
          <a:p>
            <a:pPr algn="ctr"/>
            <a:b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READY FOR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984</Words>
  <Application>Microsoft Office PowerPoint</Application>
  <PresentationFormat>Widescreen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Devesh Gupta</dc:creator>
  <cp:keywords/>
  <dc:description>generated using python-pptx</dc:description>
  <cp:lastModifiedBy>Devesh Gupta</cp:lastModifiedBy>
  <cp:revision>5</cp:revision>
  <dcterms:created xsi:type="dcterms:W3CDTF">2013-01-27T09:14:16Z</dcterms:created>
  <dcterms:modified xsi:type="dcterms:W3CDTF">2026-09-18T08:16:07Z</dcterms:modified>
  <cp:category/>
</cp:coreProperties>
</file>